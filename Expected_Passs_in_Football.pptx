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Quattrocento Sans"/>
      <p:regular r:id="rId18"/>
      <p:bold r:id="rId19"/>
      <p:italic r:id="rId20"/>
      <p:boldItalic r:id="rId21"/>
    </p:embeddedFont>
    <p:embeddedFont>
      <p:font typeface="Cambria Math"/>
      <p:regular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55">
          <p15:clr>
            <a:srgbClr val="A4A3A4"/>
          </p15:clr>
        </p15:guide>
        <p15:guide id="4" orient="horz" pos="482">
          <p15:clr>
            <a:srgbClr val="A4A3A4"/>
          </p15:clr>
        </p15:guide>
        <p15:guide id="5" pos="6799">
          <p15:clr>
            <a:srgbClr val="A4A3A4"/>
          </p15:clr>
        </p15:guide>
        <p15:guide id="6" orient="horz" pos="845">
          <p15:clr>
            <a:srgbClr val="A4A3A4"/>
          </p15:clr>
        </p15:guide>
        <p15:guide id="7" pos="1023">
          <p15:clr>
            <a:srgbClr val="A4A3A4"/>
          </p15:clr>
        </p15:guide>
        <p15:guide id="8" orient="horz" pos="980">
          <p15:clr>
            <a:srgbClr val="A4A3A4"/>
          </p15:clr>
        </p15:guide>
        <p15:guide id="9" pos="7441">
          <p15:clr>
            <a:srgbClr val="A4A3A4"/>
          </p15:clr>
        </p15:guide>
        <p15:guide id="10" pos="305">
          <p15:clr>
            <a:srgbClr val="A4A3A4"/>
          </p15:clr>
        </p15:guide>
        <p15:guide id="11" pos="42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74A8EE-70BA-4CF0-91A6-6ED84D50F937}">
  <a:tblStyle styleId="{E474A8EE-70BA-4CF0-91A6-6ED84D50F93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5" orient="horz"/>
        <p:guide pos="482" orient="horz"/>
        <p:guide pos="6799"/>
        <p:guide pos="845" orient="horz"/>
        <p:guide pos="1023"/>
        <p:guide pos="980" orient="horz"/>
        <p:guide pos="7441"/>
        <p:guide pos="305"/>
        <p:guide pos="42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11" Type="http://schemas.openxmlformats.org/officeDocument/2006/relationships/slide" Target="slides/slide5.xml"/><Relationship Id="rId22" Type="http://schemas.openxmlformats.org/officeDocument/2006/relationships/font" Target="fonts/CambriaMath-regular.fntdata"/><Relationship Id="rId10" Type="http://schemas.openxmlformats.org/officeDocument/2006/relationships/slide" Target="slides/slide4.xml"/><Relationship Id="rId21" Type="http://schemas.openxmlformats.org/officeDocument/2006/relationships/font" Target="fonts/Quattrocento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Quattrocento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Quattrocento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edbb88b69b_0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edbb88b69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dbb88b69b_0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edbb88b69b_0_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edbb88b69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edbb88b69b_0_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edbb88b6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Szczepański &amp; McHale: this paper is the reason completion rate alone isn't good enough, it ignores difficulty entirely.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Anzer &amp; Bauer: "this is the paper we're directly building on, it solves that problem using tracking data."</a:t>
            </a:r>
            <a:endParaRPr/>
          </a:p>
        </p:txBody>
      </p:sp>
      <p:sp>
        <p:nvSpPr>
          <p:cNvPr id="246" name="Google Shape;246;g3edbb88b69b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dbb88b69b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dbb88b69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/>
              <a:t>No big enough sample for tracking data. Skill corner has for about 10 matches</a:t>
            </a:r>
            <a:endParaRPr/>
          </a:p>
        </p:txBody>
      </p:sp>
      <p:sp>
        <p:nvSpPr>
          <p:cNvPr id="256" name="Google Shape;256;g3edbb88b69b_2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dbb88b69b_2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dbb88b69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edbb88b69b_2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edbb88b69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edbb88b6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3edbb88b69b_0_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dbb88b69b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dbb88b69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dbb88b69b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edbb88b69b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edbb88b69b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edbb88b69b_0_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edbb88b69b_1_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edbb88b69b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dbb88b69b_1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>
  <p:cSld name="Titelfoli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oogle Shape;14;p2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50375" r="0" t="0"/>
          <a:stretch/>
        </p:blipFill>
        <p:spPr>
          <a:xfrm>
            <a:off x="0" y="19050"/>
            <a:ext cx="3024188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3413" y="433388"/>
            <a:ext cx="990600" cy="39846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type="ctrTitle"/>
          </p:nvPr>
        </p:nvSpPr>
        <p:spPr>
          <a:xfrm>
            <a:off x="4463818" y="2511726"/>
            <a:ext cx="7008779" cy="1437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" type="subTitle"/>
          </p:nvPr>
        </p:nvSpPr>
        <p:spPr>
          <a:xfrm>
            <a:off x="4463818" y="3951886"/>
            <a:ext cx="7008779" cy="16373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Text-Kombi-4-Aufzählung rechts">
  <p:cSld name="Bild-Text-Kombi-4-Aufzählung recht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3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3"/>
          <p:cNvSpPr/>
          <p:nvPr/>
        </p:nvSpPr>
        <p:spPr>
          <a:xfrm>
            <a:off x="6350" y="1349375"/>
            <a:ext cx="6089650" cy="4905375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2" type="body"/>
          </p:nvPr>
        </p:nvSpPr>
        <p:spPr>
          <a:xfrm>
            <a:off x="6768765" y="1345199"/>
            <a:ext cx="5049839" cy="491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68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302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Google Shape;32;p3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Text-Kombi-1">
  <p:cSld name="Bild-Text-Kombi-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" name="Google Shape;35;p4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350" y="44450"/>
            <a:ext cx="6089650" cy="6210300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 txBox="1"/>
          <p:nvPr>
            <p:ph idx="1" type="body"/>
          </p:nvPr>
        </p:nvSpPr>
        <p:spPr>
          <a:xfrm>
            <a:off x="6768766" y="1350048"/>
            <a:ext cx="5049838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5" name="Google Shape;45;p4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e Folie / nur Titel">
  <p:cSld name="Leere Folie / nur Titel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 flipH="1">
            <a:off x="0" y="6261100"/>
            <a:ext cx="12192000" cy="59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" name="Google Shape;48;p5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" name="Google Shape;49;p5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5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4" name="Google Shape;54;p5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Text-Kombi-5-Aufzählung links">
  <p:cSld name="Bild-Text-Kombi-5-Aufzählung link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" name="Google Shape;57;p6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6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6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" name="Google Shape;6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6"/>
          <p:cNvSpPr/>
          <p:nvPr/>
        </p:nvSpPr>
        <p:spPr>
          <a:xfrm>
            <a:off x="6097588" y="1349375"/>
            <a:ext cx="6089650" cy="4905375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6"/>
          <p:cNvSpPr txBox="1"/>
          <p:nvPr>
            <p:ph idx="2" type="body"/>
          </p:nvPr>
        </p:nvSpPr>
        <p:spPr>
          <a:xfrm>
            <a:off x="485392" y="1345199"/>
            <a:ext cx="5049839" cy="491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68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302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6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Text-Kombi-2">
  <p:cSld name="Bild-Text-Kombi-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7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7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7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/>
          <p:nvPr/>
        </p:nvSpPr>
        <p:spPr>
          <a:xfrm>
            <a:off x="6350" y="1349375"/>
            <a:ext cx="6089650" cy="4905375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2" type="body"/>
          </p:nvPr>
        </p:nvSpPr>
        <p:spPr>
          <a:xfrm>
            <a:off x="6768766" y="1350048"/>
            <a:ext cx="5049838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7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2" name="Google Shape;82;p7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o">
  <p:cSld name="Blanko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ld-Text-Kombi-3">
  <p:cSld name="Bild-Text-Kombi-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9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9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9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" name="Google Shape;88;p9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9"/>
          <p:cNvSpPr/>
          <p:nvPr/>
        </p:nvSpPr>
        <p:spPr>
          <a:xfrm>
            <a:off x="6097588" y="1349375"/>
            <a:ext cx="6089650" cy="4905375"/>
          </a:xfrm>
          <a:prstGeom prst="rect">
            <a:avLst/>
          </a:prstGeom>
          <a:solidFill>
            <a:srgbClr val="D8D8D8"/>
          </a:solidFill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9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9"/>
          <p:cNvSpPr txBox="1"/>
          <p:nvPr>
            <p:ph idx="2" type="body"/>
          </p:nvPr>
        </p:nvSpPr>
        <p:spPr>
          <a:xfrm>
            <a:off x="490205" y="1350048"/>
            <a:ext cx="4891732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9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7" name="Google Shape;97;p9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schlußfolie">
  <p:cSld name="Abschlußfoli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105275" y="1774825"/>
            <a:ext cx="3986213" cy="159861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 txBox="1"/>
          <p:nvPr>
            <p:ph type="ctrTitle"/>
          </p:nvPr>
        </p:nvSpPr>
        <p:spPr>
          <a:xfrm>
            <a:off x="0" y="3957214"/>
            <a:ext cx="12192000" cy="5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mit Fließtext 24pt">
  <p:cSld name="Titel und Inhalt mit Fließtext 24p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11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" name="Google Shape;104;p11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11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1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2" type="body"/>
          </p:nvPr>
        </p:nvSpPr>
        <p:spPr>
          <a:xfrm>
            <a:off x="1630030" y="1350048"/>
            <a:ext cx="9163384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11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3" name="Google Shape;113;p11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 mit Fließtext fett 24 pt">
  <p:cSld name="Titel und Inhalt mit Fließtext fett 24 p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2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2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12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2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2"/>
          <p:cNvSpPr txBox="1"/>
          <p:nvPr>
            <p:ph idx="1" type="body"/>
          </p:nvPr>
        </p:nvSpPr>
        <p:spPr>
          <a:xfrm>
            <a:off x="1630030" y="1350048"/>
            <a:ext cx="9169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24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12"/>
          <p:cNvSpPr txBox="1"/>
          <p:nvPr>
            <p:ph idx="2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6" name="Google Shape;126;p12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fzählung eingerückt">
  <p:cSld name="Aufzählung eingerück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3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3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3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3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idx="2" type="body"/>
          </p:nvPr>
        </p:nvSpPr>
        <p:spPr>
          <a:xfrm>
            <a:off x="1630363" y="1345199"/>
            <a:ext cx="9154784" cy="4913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6800">
            <a:noAutofit/>
          </a:bodyPr>
          <a:lstStyle>
            <a:lvl1pPr indent="-3810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5600" lvl="1" marL="91440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30200" lvl="2" marL="1371600" marR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3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ere Folie / Logo Eule / Streifen oben">
  <p:cSld name="Leere Folie / Logo Eule / Streifen oben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/>
        </p:nvSpPr>
        <p:spPr>
          <a:xfrm flipH="1">
            <a:off x="0" y="6261100"/>
            <a:ext cx="12192000" cy="59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14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4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4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4"/>
          <p:cNvSpPr txBox="1"/>
          <p:nvPr>
            <p:ph idx="1" type="body"/>
          </p:nvPr>
        </p:nvSpPr>
        <p:spPr>
          <a:xfrm>
            <a:off x="397933" y="349044"/>
            <a:ext cx="886641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4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4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p14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lie mit Platzierung zweites Logo">
  <p:cSld name="Folie mit Platzierung zweites Logo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/>
          <p:nvPr/>
        </p:nvSpPr>
        <p:spPr>
          <a:xfrm flipH="1">
            <a:off x="-6350" y="6254750"/>
            <a:ext cx="12204700" cy="60325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15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5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15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 rot="10800000">
            <a:off x="0" y="0"/>
            <a:ext cx="9555163" cy="44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 rot="10800000">
            <a:off x="9551988" y="0"/>
            <a:ext cx="2640012" cy="22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748963" y="388938"/>
            <a:ext cx="1108075" cy="4841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5"/>
          <p:cNvCxnSpPr/>
          <p:nvPr/>
        </p:nvCxnSpPr>
        <p:spPr>
          <a:xfrm rot="5400000">
            <a:off x="10156825" y="593725"/>
            <a:ext cx="522288" cy="1588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397933" y="349044"/>
            <a:ext cx="7714291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15"/>
          <p:cNvSpPr txBox="1"/>
          <p:nvPr>
            <p:ph idx="2" type="body"/>
          </p:nvPr>
        </p:nvSpPr>
        <p:spPr>
          <a:xfrm>
            <a:off x="1630030" y="1350048"/>
            <a:ext cx="9163384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15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5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5" name="Google Shape;165;p15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nnfolie 1 - Gelbgrün">
  <p:cSld name="Trennfolie 1 - Gelbgrü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/>
          <p:nvPr/>
        </p:nvSpPr>
        <p:spPr>
          <a:xfrm>
            <a:off x="0" y="2740"/>
            <a:ext cx="12192000" cy="6262688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6"/>
          <p:cNvSpPr/>
          <p:nvPr/>
        </p:nvSpPr>
        <p:spPr>
          <a:xfrm flipH="1">
            <a:off x="0" y="6261100"/>
            <a:ext cx="12192000" cy="59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16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16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" name="Google Shape;171;p16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>
            <p:ph idx="1" type="body"/>
          </p:nvPr>
        </p:nvSpPr>
        <p:spPr>
          <a:xfrm>
            <a:off x="0" y="2745414"/>
            <a:ext cx="12203113" cy="695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600"/>
              </a:spcBef>
              <a:spcAft>
                <a:spcPts val="0"/>
              </a:spcAft>
              <a:buClr>
                <a:srgbClr val="01283F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rgbClr val="0128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6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5" name="Google Shape;175;p16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nnfolie 2 - Rot">
  <p:cSld name="Trennfolie 2 - Rot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7"/>
          <p:cNvSpPr/>
          <p:nvPr/>
        </p:nvSpPr>
        <p:spPr>
          <a:xfrm>
            <a:off x="0" y="0"/>
            <a:ext cx="12192000" cy="6262688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7"/>
          <p:cNvSpPr/>
          <p:nvPr/>
        </p:nvSpPr>
        <p:spPr>
          <a:xfrm flipH="1">
            <a:off x="0" y="6261100"/>
            <a:ext cx="12192000" cy="59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17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17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17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4499" y="2745412"/>
            <a:ext cx="12198614" cy="695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17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7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5" name="Google Shape;185;p17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nnfolie 3 - Blauschwarz">
  <p:cSld name="Trennfolie 3 - Blauschwarz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"/>
          <p:cNvSpPr/>
          <p:nvPr/>
        </p:nvSpPr>
        <p:spPr>
          <a:xfrm>
            <a:off x="0" y="0"/>
            <a:ext cx="12192000" cy="6262688"/>
          </a:xfrm>
          <a:prstGeom prst="rect">
            <a:avLst/>
          </a:prstGeom>
          <a:solidFill>
            <a:srgbClr val="01283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8"/>
          <p:cNvSpPr/>
          <p:nvPr/>
        </p:nvSpPr>
        <p:spPr>
          <a:xfrm flipH="1">
            <a:off x="0" y="6261100"/>
            <a:ext cx="12192000" cy="59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18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18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18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>
            <p:ph idx="1" type="body"/>
          </p:nvPr>
        </p:nvSpPr>
        <p:spPr>
          <a:xfrm>
            <a:off x="4499" y="2745412"/>
            <a:ext cx="12198614" cy="695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18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18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ennfolie 4 - Eule angeschnitten positiv weiß">
  <p:cSld name="Trennfolie 4 - Eule angeschnitten positiv weiß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/>
          <p:nvPr/>
        </p:nvSpPr>
        <p:spPr>
          <a:xfrm flipH="1">
            <a:off x="0" y="6261100"/>
            <a:ext cx="12192000" cy="59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9"/>
          <p:cNvCxnSpPr/>
          <p:nvPr/>
        </p:nvCxnSpPr>
        <p:spPr>
          <a:xfrm rot="5400000">
            <a:off x="1367632" y="6595269"/>
            <a:ext cx="522287" cy="3175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" name="Google Shape;199;p19"/>
          <p:cNvCxnSpPr/>
          <p:nvPr/>
        </p:nvCxnSpPr>
        <p:spPr>
          <a:xfrm rot="5400000">
            <a:off x="10541000" y="6596063"/>
            <a:ext cx="522287" cy="1588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" name="Google Shape;200;p19"/>
          <p:cNvSpPr/>
          <p:nvPr/>
        </p:nvSpPr>
        <p:spPr>
          <a:xfrm flipH="1">
            <a:off x="0" y="6261100"/>
            <a:ext cx="12203113" cy="539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 txBox="1"/>
          <p:nvPr>
            <p:ph idx="1" type="body"/>
          </p:nvPr>
        </p:nvSpPr>
        <p:spPr>
          <a:xfrm>
            <a:off x="4499" y="2745412"/>
            <a:ext cx="12187501" cy="695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600"/>
              </a:spcBef>
              <a:spcAft>
                <a:spcPts val="0"/>
              </a:spcAft>
              <a:buClr>
                <a:srgbClr val="19406B"/>
              </a:buClr>
              <a:buSzPts val="3000"/>
              <a:buFont typeface="Merriweather Sans"/>
              <a:buNone/>
              <a:defRPr b="0" i="0" sz="3000" u="none" cap="none" strike="noStrike">
                <a:solidFill>
                  <a:srgbClr val="19406B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85750" lvl="1" marL="914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285750" lvl="2" marL="1371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28575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28575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4" name="Google Shape;204;p19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5" name="Google Shape;205;p19"/>
          <p:cNvPicPr preferRelativeResize="0"/>
          <p:nvPr/>
        </p:nvPicPr>
        <p:blipFill rotWithShape="1">
          <a:blip r:embed="rId2">
            <a:alphaModFix/>
          </a:blip>
          <a:srcRect b="54561" l="-1607" r="0" t="0"/>
          <a:stretch/>
        </p:blipFill>
        <p:spPr>
          <a:xfrm>
            <a:off x="3718823" y="3871866"/>
            <a:ext cx="4758853" cy="2388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hyperlink" Target="https://theanalyst.com/articles/expected-pass-completion-explained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iVjuxzfQA2M" TargetMode="External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>
            <p:ph type="ctrTitle"/>
          </p:nvPr>
        </p:nvSpPr>
        <p:spPr>
          <a:xfrm>
            <a:off x="3655000" y="2126875"/>
            <a:ext cx="8157600" cy="10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Can We Predict Every Pass?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Building an Expected Pass Model for Football</a:t>
            </a:r>
            <a:endParaRPr/>
          </a:p>
        </p:txBody>
      </p:sp>
      <p:sp>
        <p:nvSpPr>
          <p:cNvPr id="211" name="Google Shape;211;p20"/>
          <p:cNvSpPr txBox="1"/>
          <p:nvPr>
            <p:ph idx="1" type="subTitle"/>
          </p:nvPr>
        </p:nvSpPr>
        <p:spPr>
          <a:xfrm>
            <a:off x="3793225" y="3429000"/>
            <a:ext cx="4486200" cy="23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</a:pPr>
            <a:r>
              <a:rPr lang="en-GB"/>
              <a:t>– Seminar: Sports Analytics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GB"/>
              <a:t>- Team:</a:t>
            </a:r>
            <a:br>
              <a:rPr lang="en-GB"/>
            </a:br>
            <a:r>
              <a:rPr lang="en-GB"/>
              <a:t>	Aashish Nair (7086324)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GB"/>
              <a:t>	Ankit Khatiwada (7089529)</a:t>
            </a:r>
            <a:endParaRPr/>
          </a:p>
          <a:p>
            <a:pPr indent="457200" lvl="0" marL="0" rtl="0" algn="l">
              <a:lnSpc>
                <a:spcPct val="13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GB"/>
              <a:t>Moaaz Sajjad Warraich (7089952)</a:t>
            </a:r>
            <a:endParaRPr sz="2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/>
          </a:p>
        </p:txBody>
      </p:sp>
      <p:sp>
        <p:nvSpPr>
          <p:cNvPr id="218" name="Google Shape;218;p21"/>
          <p:cNvSpPr txBox="1"/>
          <p:nvPr>
            <p:ph idx="2" type="body"/>
          </p:nvPr>
        </p:nvSpPr>
        <p:spPr>
          <a:xfrm>
            <a:off x="551838" y="1034849"/>
            <a:ext cx="9154800" cy="4913400"/>
          </a:xfrm>
          <a:prstGeom prst="rect">
            <a:avLst/>
          </a:prstGeom>
        </p:spPr>
        <p:txBody>
          <a:bodyPr anchorCtr="0" anchor="t" bIns="45700" lIns="0" spcFirstLastPara="1" rIns="91425" wrap="square" tIns="468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Introduction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Literature Review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Methodologies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Limitations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Future Scope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GB"/>
              <a:t>References</a:t>
            </a:r>
            <a:endParaRPr/>
          </a:p>
        </p:txBody>
      </p:sp>
      <p:sp>
        <p:nvSpPr>
          <p:cNvPr id="219" name="Google Shape;219;p21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20" name="Google Shape;220;p21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1" name="Google Shape;221;p21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2"/>
          <p:cNvSpPr txBox="1"/>
          <p:nvPr>
            <p:ph idx="1" type="body"/>
          </p:nvPr>
        </p:nvSpPr>
        <p:spPr>
          <a:xfrm>
            <a:off x="398463" y="349250"/>
            <a:ext cx="1021238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erriweather Sans"/>
              <a:buNone/>
            </a:pPr>
            <a:r>
              <a:rPr lang="en-GB" sz="3200"/>
              <a:t>What is Expected Pass?</a:t>
            </a:r>
            <a:endParaRPr/>
          </a:p>
        </p:txBody>
      </p:sp>
      <p:sp>
        <p:nvSpPr>
          <p:cNvPr id="227" name="Google Shape;227;p22"/>
          <p:cNvSpPr txBox="1"/>
          <p:nvPr>
            <p:ph idx="12" type="sldNum"/>
          </p:nvPr>
        </p:nvSpPr>
        <p:spPr>
          <a:xfrm>
            <a:off x="10991850" y="6416675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‹#›</a:t>
            </a:fld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8" name="Google Shape;228;p22"/>
          <p:cNvSpPr txBox="1"/>
          <p:nvPr>
            <p:ph idx="10" type="dt"/>
          </p:nvPr>
        </p:nvSpPr>
        <p:spPr>
          <a:xfrm>
            <a:off x="398463" y="6424613"/>
            <a:ext cx="1227137" cy="3571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29" name="Google Shape;229;p22"/>
          <p:cNvSpPr txBox="1"/>
          <p:nvPr>
            <p:ph idx="11" type="ftr"/>
          </p:nvPr>
        </p:nvSpPr>
        <p:spPr>
          <a:xfrm>
            <a:off x="1625600" y="6416675"/>
            <a:ext cx="89852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  <p:pic>
        <p:nvPicPr>
          <p:cNvPr id="230" name="Google Shape;230;p22" title="xp-sequence-example-1024x7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1450"/>
            <a:ext cx="6096000" cy="491044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2"/>
          <p:cNvSpPr txBox="1"/>
          <p:nvPr/>
        </p:nvSpPr>
        <p:spPr>
          <a:xfrm>
            <a:off x="6507550" y="1409375"/>
            <a:ext cx="5383500" cy="48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 as expected goals (xG) predicts the likelihood of a shot being scored, xP framework models the probability of a pass being completed by taking information about the pass and the current possession.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xPass is essentially a metric for pass difficulty, basically predicting whether a pass would be given the context of the game.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Applications: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Separating Decision Quality from Execution Quality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Evaluating Passing Skill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Scouting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Quattrocento Sans"/>
              <a:buChar char="-"/>
            </a:pPr>
            <a:r>
              <a:rPr lang="en-GB" sz="1900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Tactical Analysis</a:t>
            </a:r>
            <a:endParaRPr sz="1900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32" name="Google Shape;232;p22"/>
          <p:cNvSpPr txBox="1"/>
          <p:nvPr/>
        </p:nvSpPr>
        <p:spPr>
          <a:xfrm>
            <a:off x="4323900" y="5792000"/>
            <a:ext cx="17721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 : </a:t>
            </a:r>
            <a:r>
              <a:rPr lang="en-GB" u="sng">
                <a:solidFill>
                  <a:schemeClr val="hlink"/>
                </a:solidFill>
                <a:hlinkClick r:id="rId4"/>
              </a:rPr>
              <a:t>The Analyst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/>
              <a:t>Video Clip Showing xP in Bundesliga</a:t>
            </a:r>
            <a:endParaRPr sz="3200"/>
          </a:p>
        </p:txBody>
      </p:sp>
      <p:sp>
        <p:nvSpPr>
          <p:cNvPr id="239" name="Google Shape;239;p23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This new stat helps fans understand how players think and decide where to pass the ball.&#10;&#10;Subscribe here: &#10;► https://www.youtube.com/dfl?sub_confirmation=1 &#10;&#10;More information about the DFL: &#10;► LinkedIn: https://www.linkedin.com/company/dfl-official/&#10;► Twitter: https://twitter.com/DFL_Official&#10;► Website: https://dfl.de/en" id="240" name="Google Shape;240;p23" title="Passing Profile - Bundesliga Match Facts powered by AWS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200" y="1034850"/>
            <a:ext cx="8866500" cy="498739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9537525" y="1341450"/>
            <a:ext cx="2654400" cy="13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/>
              <a:t>Credit:</a:t>
            </a:r>
            <a:br>
              <a:rPr b="1" lang="en-GB" sz="1600"/>
            </a:br>
            <a:r>
              <a:rPr b="1" lang="en-GB" sz="1600"/>
              <a:t>DFL Youtube Channel</a:t>
            </a:r>
            <a:endParaRPr b="1" sz="1600"/>
          </a:p>
        </p:txBody>
      </p:sp>
      <p:sp>
        <p:nvSpPr>
          <p:cNvPr id="242" name="Google Shape;242;p23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43" name="Google Shape;243;p23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erriweather Sans"/>
              <a:buNone/>
            </a:pPr>
            <a:r>
              <a:rPr lang="en-GB" sz="3200"/>
              <a:t>Literature Review</a:t>
            </a:r>
            <a:endParaRPr/>
          </a:p>
        </p:txBody>
      </p:sp>
      <p:sp>
        <p:nvSpPr>
          <p:cNvPr id="249" name="Google Shape;249;p24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0" name="Google Shape;250;p24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  <p:graphicFrame>
        <p:nvGraphicFramePr>
          <p:cNvPr id="251" name="Google Shape;251;p24"/>
          <p:cNvGraphicFramePr/>
          <p:nvPr/>
        </p:nvGraphicFramePr>
        <p:xfrm>
          <a:off x="185725" y="115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{E474A8EE-70BA-4CF0-91A6-6ED84D50F937}</a:tableStyleId>
              </a:tblPr>
              <a:tblGrid>
                <a:gridCol w="1956100"/>
                <a:gridCol w="1892000"/>
                <a:gridCol w="79724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Paper</a:t>
                      </a:r>
                      <a:endParaRPr b="1"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Topic</a:t>
                      </a:r>
                      <a:endParaRPr b="1"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Main idea</a:t>
                      </a:r>
                      <a:endParaRPr b="1"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Szczepański &amp; McHale, 2016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Beyond completion rate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Raw pass completion is limited because it ignores pass difficulty. Motivates evaluating passes relative to expected difficulty.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Arbués-Sangüesa et al., 2020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Body orientation &amp; pass feasibility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Shows that player orientation and opponent positioning affect whether a pass is feasible. Useful as a limitation/future feature.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Anzer &amp; Bauer, 2022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Expected Pass / xPass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Core reference. Models pass difficulty as the probability of successful pass completion using spatio-temporal context.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Robberechts et al., 2023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Creativity / Un-xPass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Extends pass evaluation by considering whether passes are both useful and atypical. Relevant for risk-reward or creative passing analysis.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Rahimian et al., 2024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Temporal graph networks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Predicts pass receiver and pass outcome using sequential/graph-based representations. Relevant for future sequential extensions.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  <a:tr h="361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Takamido et al., 2025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PassAI / explainability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Uses explainable machine learning and multimodal match data to classify pass success or failure. Relevant for model interpretability.</a:t>
                      </a:r>
                      <a:endParaRPr sz="1800">
                        <a:solidFill>
                          <a:schemeClr val="dk2"/>
                        </a:solidFill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2" name="Google Shape;252;p24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5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Methodologies I</a:t>
            </a:r>
            <a:endParaRPr/>
          </a:p>
        </p:txBody>
      </p:sp>
      <p:sp>
        <p:nvSpPr>
          <p:cNvPr id="259" name="Google Shape;259;p25"/>
          <p:cNvSpPr txBox="1"/>
          <p:nvPr>
            <p:ph idx="2" type="body"/>
          </p:nvPr>
        </p:nvSpPr>
        <p:spPr>
          <a:xfrm>
            <a:off x="6768775" y="1345200"/>
            <a:ext cx="5049900" cy="4942800"/>
          </a:xfrm>
          <a:prstGeom prst="rect">
            <a:avLst/>
          </a:prstGeom>
        </p:spPr>
        <p:txBody>
          <a:bodyPr anchorCtr="0" anchor="t" bIns="45700" lIns="0" spcFirstLastPara="1" rIns="91425" wrap="square" tIns="46800">
            <a:noAutofit/>
          </a:bodyPr>
          <a:lstStyle/>
          <a:p>
            <a:pPr indent="-374650" lvl="0" marL="457200" rtl="0" algn="l">
              <a:spcBef>
                <a:spcPts val="1500"/>
              </a:spcBef>
              <a:spcAft>
                <a:spcPts val="0"/>
              </a:spcAft>
              <a:buSzPts val="2300"/>
              <a:buFont typeface="Quattrocento Sans"/>
              <a:buAutoNum type="arabicPeriod"/>
            </a:pPr>
            <a:r>
              <a:rPr lang="en-GB" sz="2300"/>
              <a:t>Data and Target (112,744 passes)</a:t>
            </a:r>
            <a:endParaRPr sz="2300"/>
          </a:p>
          <a:p>
            <a:pPr indent="-349250" lvl="1" marL="914400" rtl="0" algn="l">
              <a:spcBef>
                <a:spcPts val="1500"/>
              </a:spcBef>
              <a:spcAft>
                <a:spcPts val="0"/>
              </a:spcAft>
              <a:buSzPts val="1900"/>
              <a:buFont typeface="Quattrocento Sans"/>
              <a:buAutoNum type="alphaLcPeriod"/>
            </a:pPr>
            <a:r>
              <a:rPr lang="en-GB" sz="1900"/>
              <a:t>Statsbomb open event data</a:t>
            </a:r>
            <a:endParaRPr sz="1900"/>
          </a:p>
          <a:p>
            <a:pPr indent="-349250" lvl="1" marL="914400" rtl="0" algn="l">
              <a:spcBef>
                <a:spcPts val="1500"/>
              </a:spcBef>
              <a:spcAft>
                <a:spcPts val="0"/>
              </a:spcAft>
              <a:buSzPts val="1900"/>
              <a:buFont typeface="Quattrocento Sans"/>
              <a:buAutoNum type="alphaLcPeriod"/>
            </a:pPr>
            <a:r>
              <a:rPr lang="en-GB" sz="1900"/>
              <a:t>Women Bundesliga Data 2023/24   (132 matches)</a:t>
            </a:r>
            <a:endParaRPr sz="19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Font typeface="Quattrocento Sans"/>
              <a:buAutoNum type="arabicPeriod"/>
            </a:pPr>
            <a:r>
              <a:rPr lang="en-GB" sz="2300"/>
              <a:t>Feature Engineering</a:t>
            </a:r>
            <a:endParaRPr sz="2300"/>
          </a:p>
          <a:p>
            <a:pPr indent="-349250" lvl="1" marL="914400" rtl="0" algn="l">
              <a:spcBef>
                <a:spcPts val="1200"/>
              </a:spcBef>
              <a:spcAft>
                <a:spcPts val="0"/>
              </a:spcAft>
              <a:buSzPts val="1900"/>
              <a:buFont typeface="Quattrocento Sans"/>
              <a:buAutoNum type="alphaLcPeriod"/>
            </a:pPr>
            <a:r>
              <a:rPr lang="en-GB" sz="1900"/>
              <a:t>Anzer &amp; Bauer (2022) xPass set</a:t>
            </a:r>
            <a:endParaRPr sz="1900"/>
          </a:p>
          <a:p>
            <a:pPr indent="-349250" lvl="1" marL="914400" rtl="0" algn="l">
              <a:spcBef>
                <a:spcPts val="1200"/>
              </a:spcBef>
              <a:spcAft>
                <a:spcPts val="0"/>
              </a:spcAft>
              <a:buSzPts val="1900"/>
              <a:buFont typeface="Quattrocento Sans"/>
              <a:buAutoNum type="alphaLcPeriod"/>
            </a:pPr>
            <a:r>
              <a:rPr lang="en-GB" sz="1900"/>
              <a:t>Features: </a:t>
            </a:r>
            <a:endParaRPr sz="1900"/>
          </a:p>
          <a:p>
            <a:pPr indent="-349250" lvl="2" marL="1371600" rtl="0" algn="l">
              <a:spcBef>
                <a:spcPts val="1200"/>
              </a:spcBef>
              <a:spcAft>
                <a:spcPts val="0"/>
              </a:spcAft>
              <a:buSzPts val="1900"/>
              <a:buFont typeface="Quattrocento Sans"/>
              <a:buAutoNum type="romanLcPeriod"/>
            </a:pPr>
            <a:r>
              <a:rPr lang="en-GB" sz="1900"/>
              <a:t>start/end position, pass length and angle</a:t>
            </a:r>
            <a:endParaRPr sz="1900"/>
          </a:p>
          <a:p>
            <a:pPr indent="-349250" lvl="2" marL="1371600" rtl="0" algn="l">
              <a:spcBef>
                <a:spcPts val="1200"/>
              </a:spcBef>
              <a:spcAft>
                <a:spcPts val="0"/>
              </a:spcAft>
              <a:buSzPts val="1900"/>
              <a:buFont typeface="Quattrocento Sans"/>
              <a:buAutoNum type="romanLcPeriod"/>
            </a:pPr>
            <a:r>
              <a:rPr lang="en-GB" sz="1900"/>
              <a:t>distance to goal, pressure, </a:t>
            </a:r>
            <a:r>
              <a:rPr lang="en-GB" sz="1900"/>
              <a:t>possession</a:t>
            </a:r>
            <a:r>
              <a:rPr lang="en-GB" sz="1900"/>
              <a:t> phase</a:t>
            </a:r>
            <a:endParaRPr sz="1900"/>
          </a:p>
          <a:p>
            <a:pPr indent="-349250" lvl="1" marL="914400" rtl="0" algn="l">
              <a:spcBef>
                <a:spcPts val="1200"/>
              </a:spcBef>
              <a:spcAft>
                <a:spcPts val="0"/>
              </a:spcAft>
              <a:buSzPts val="1900"/>
              <a:buFont typeface="Quattrocento Sans"/>
              <a:buAutoNum type="alphaLcPeriod"/>
            </a:pPr>
            <a:r>
              <a:rPr lang="en-GB" sz="1900"/>
              <a:t>Gap: ½ features not </a:t>
            </a:r>
            <a:r>
              <a:rPr lang="en-GB" sz="1900"/>
              <a:t>constructible</a:t>
            </a:r>
            <a:endParaRPr sz="1900"/>
          </a:p>
        </p:txBody>
      </p:sp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1" name="Google Shape;261;p25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62" name="Google Shape;262;p25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  <p:pic>
        <p:nvPicPr>
          <p:cNvPr id="263" name="Google Shape;26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1451"/>
            <a:ext cx="6463974" cy="4895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Methodologies II</a:t>
            </a:r>
            <a:endParaRPr/>
          </a:p>
        </p:txBody>
      </p:sp>
      <p:sp>
        <p:nvSpPr>
          <p:cNvPr id="270" name="Google Shape;270;p26"/>
          <p:cNvSpPr txBox="1"/>
          <p:nvPr>
            <p:ph idx="2" type="body"/>
          </p:nvPr>
        </p:nvSpPr>
        <p:spPr>
          <a:xfrm>
            <a:off x="6268275" y="1381500"/>
            <a:ext cx="5423400" cy="4836900"/>
          </a:xfrm>
          <a:prstGeom prst="rect">
            <a:avLst/>
          </a:prstGeom>
        </p:spPr>
        <p:txBody>
          <a:bodyPr anchorCtr="0" anchor="t" bIns="45700" lIns="0" spcFirstLastPara="1" rIns="91425" wrap="square" tIns="46800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n-GB"/>
              <a:t>Model Validation: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GB"/>
              <a:t>Naive </a:t>
            </a:r>
            <a:r>
              <a:rPr lang="en-GB"/>
              <a:t>baseline</a:t>
            </a:r>
            <a:r>
              <a:rPr lang="en-GB"/>
              <a:t> -&gt;  Logistic-Regression -&gt; XGBoost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GB"/>
              <a:t>Train-Test Split: Match level</a:t>
            </a:r>
            <a:endParaRPr/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GB"/>
              <a:t>Metrics used:</a:t>
            </a:r>
            <a:endParaRPr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</a:pPr>
            <a:r>
              <a:rPr lang="en-GB"/>
              <a:t>AUC</a:t>
            </a:r>
            <a:endParaRPr/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</a:pPr>
            <a:r>
              <a:rPr lang="en-GB"/>
              <a:t>Brier Score</a:t>
            </a:r>
            <a:endParaRPr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 startAt="3"/>
            </a:pPr>
            <a:r>
              <a:rPr lang="en-GB"/>
              <a:t>Position Normalized </a:t>
            </a:r>
            <a:r>
              <a:rPr lang="en-GB"/>
              <a:t>Comparison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Cambria Math"/>
                <a:ea typeface="Cambria Math"/>
                <a:cs typeface="Cambria Math"/>
                <a:sym typeface="Cambria Math"/>
              </a:rPr>
              <a:t>z</a:t>
            </a:r>
            <a:r>
              <a:rPr lang="en-GB" sz="2000">
                <a:latin typeface="Cambria Math"/>
                <a:ea typeface="Cambria Math"/>
                <a:cs typeface="Cambria Math"/>
                <a:sym typeface="Cambria Math"/>
              </a:rPr>
              <a:t> = |gap - </a:t>
            </a:r>
            <a:r>
              <a:rPr lang="en-GB" sz="2000"/>
              <a:t>μ</a:t>
            </a:r>
            <a:r>
              <a:rPr baseline="-25000" lang="en-GB" sz="2000"/>
              <a:t>position</a:t>
            </a:r>
            <a:r>
              <a:rPr lang="en-GB" sz="2000"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lang="en-GB" sz="2000"/>
              <a:t>| / σ</a:t>
            </a:r>
            <a:r>
              <a:rPr baseline="-25000" lang="en-GB" sz="2000"/>
              <a:t>position</a:t>
            </a:r>
            <a:endParaRPr baseline="-25000" sz="2000"/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600"/>
              <a:t>gap= actual completion rate-model expected rate</a:t>
            </a:r>
            <a:endParaRPr b="1" sz="1600"/>
          </a:p>
        </p:txBody>
      </p:sp>
      <p:sp>
        <p:nvSpPr>
          <p:cNvPr id="271" name="Google Shape;271;p26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2" name="Google Shape;272;p26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73" name="Google Shape;273;p26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  <p:pic>
        <p:nvPicPr>
          <p:cNvPr id="274" name="Google Shape;27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41438"/>
            <a:ext cx="6095999" cy="2868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10125"/>
            <a:ext cx="6096000" cy="20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/>
              <a:t>Limitations</a:t>
            </a:r>
            <a:endParaRPr sz="3200"/>
          </a:p>
        </p:txBody>
      </p:sp>
      <p:sp>
        <p:nvSpPr>
          <p:cNvPr id="282" name="Google Shape;282;p27"/>
          <p:cNvSpPr txBox="1"/>
          <p:nvPr>
            <p:ph idx="2" type="body"/>
          </p:nvPr>
        </p:nvSpPr>
        <p:spPr>
          <a:xfrm>
            <a:off x="397913" y="1160749"/>
            <a:ext cx="9154800" cy="4913400"/>
          </a:xfrm>
          <a:prstGeom prst="rect">
            <a:avLst/>
          </a:prstGeom>
        </p:spPr>
        <p:txBody>
          <a:bodyPr anchorCtr="0" anchor="t" bIns="45700" lIns="0" spcFirstLastPara="1" rIns="91425" wrap="square" tIns="468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/>
              <a:t>•</a:t>
            </a:r>
            <a:r>
              <a:rPr lang="en-GB" sz="2000"/>
              <a:t> StatsBomb Open Data may create sample bias/incomplete data.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/>
              <a:t>•</a:t>
            </a:r>
            <a:r>
              <a:rPr lang="en-GB" sz="2000"/>
              <a:t> Opponent positioning is not yet modeled.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/>
              <a:t>•</a:t>
            </a:r>
            <a:r>
              <a:rPr lang="en-GB" sz="2000"/>
              <a:t> Receiver availability and body orientation are not included.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600"/>
              <a:t>•</a:t>
            </a:r>
            <a:r>
              <a:rPr lang="en-GB" sz="2000"/>
              <a:t> Sequential context before the pass is ignored.</a:t>
            </a:r>
            <a:endParaRPr sz="1800"/>
          </a:p>
        </p:txBody>
      </p:sp>
      <p:sp>
        <p:nvSpPr>
          <p:cNvPr id="283" name="Google Shape;283;p27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4" name="Google Shape;284;p27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85" name="Google Shape;285;p27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3200"/>
              <a:t>Future Scope</a:t>
            </a:r>
            <a:endParaRPr sz="3200"/>
          </a:p>
        </p:txBody>
      </p:sp>
      <p:sp>
        <p:nvSpPr>
          <p:cNvPr id="292" name="Google Shape;292;p28"/>
          <p:cNvSpPr txBox="1"/>
          <p:nvPr>
            <p:ph idx="2" type="body"/>
          </p:nvPr>
        </p:nvSpPr>
        <p:spPr>
          <a:xfrm>
            <a:off x="397927" y="972300"/>
            <a:ext cx="10884600" cy="4913400"/>
          </a:xfrm>
          <a:prstGeom prst="rect">
            <a:avLst/>
          </a:prstGeom>
        </p:spPr>
        <p:txBody>
          <a:bodyPr anchorCtr="0" anchor="t" bIns="45700" lIns="0" spcFirstLastPara="1" rIns="91425" wrap="square" tIns="468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UcPeriod"/>
            </a:pPr>
            <a:r>
              <a:rPr b="1" lang="en-GB" sz="2000"/>
              <a:t>Research Gap: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GB"/>
              <a:t> Existing xPass models largely ignore game context (scoreline, match time, game state).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lang="en-GB"/>
              <a:t> Passes are typically treated as independent events, ignoring possession history and sequence dynamics.</a:t>
            </a:r>
            <a:endParaRPr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b="1" lang="en-GB" sz="2000"/>
              <a:t>Proposed Framework:</a:t>
            </a:r>
            <a:endParaRPr b="1" sz="2000"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/>
              <a:t>Enhanced xPass = Baseline Features + Game State Features + Sequential Features</a:t>
            </a:r>
            <a:endParaRPr b="1" sz="2000"/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UcPeriod"/>
            </a:pPr>
            <a:r>
              <a:rPr b="1" lang="en-GB" sz="2000"/>
              <a:t>Game State Features: </a:t>
            </a:r>
            <a:r>
              <a:rPr lang="en-GB" sz="2000"/>
              <a:t>Score difference, Match minute, game status (winning, losing or draw) etc.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UcPeriod"/>
            </a:pPr>
            <a:r>
              <a:rPr b="1" lang="en-GB" sz="2000"/>
              <a:t>Expected Models: </a:t>
            </a:r>
            <a:r>
              <a:rPr lang="en-GB" sz="2000"/>
              <a:t>XGBoost (feature based approach), LSTM / Sequence Models (temporal approach)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2000"/>
              <a:t>	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293" name="Google Shape;293;p28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94" name="Google Shape;294;p28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295" name="Google Shape;295;p28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9"/>
          <p:cNvSpPr txBox="1"/>
          <p:nvPr>
            <p:ph idx="1" type="body"/>
          </p:nvPr>
        </p:nvSpPr>
        <p:spPr>
          <a:xfrm>
            <a:off x="397933" y="349044"/>
            <a:ext cx="8866500" cy="685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References</a:t>
            </a:r>
            <a:endParaRPr/>
          </a:p>
        </p:txBody>
      </p:sp>
      <p:sp>
        <p:nvSpPr>
          <p:cNvPr id="302" name="Google Shape;302;p29"/>
          <p:cNvSpPr txBox="1"/>
          <p:nvPr>
            <p:ph idx="2" type="body"/>
          </p:nvPr>
        </p:nvSpPr>
        <p:spPr>
          <a:xfrm>
            <a:off x="551825" y="1034850"/>
            <a:ext cx="9147900" cy="4865400"/>
          </a:xfrm>
          <a:prstGeom prst="rect">
            <a:avLst/>
          </a:prstGeom>
        </p:spPr>
        <p:txBody>
          <a:bodyPr anchorCtr="0" anchor="t" bIns="45700" lIns="0" spcFirstLastPara="1" rIns="91425" wrap="square" tIns="4680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Takamido, R., Ota, J., &amp; Nakamoto, H. (2025). PassAI: An explainable machine learning framework for predicting soccer pass outcomes using multimodal match data. IEEE Access.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Rahimian, P., Kim, H., Schmid, M., &amp; Toka, L. (2024). Pass Receiver and Outcome Prediction in Soccer Using Temporal Graph Networks. In U. Brefeld, J.Davis, J. Van Haaren, &amp; A. Zimmermann (Eds.), Machine Learning and Data Mining for Sports Analytics.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Arbués-Sangüesa, A., Martín, A., Fernández, J., Ballester, C., &amp; Haro, G. (2020). Using player’s body-orientation to model pass feasibility in soccer. Proceedings of the IEEE/CVF Conference on Computer Vision and Pattern Recognition Workshops.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 Anzer, G., &amp; Bauer, P. (2022). Expected passes: Determining the difficulty of a pass in football (soccer) using spatio-temporal data. Data Mining and Knowledge Discovery.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Szczepański, Ł., &amp; McHale, I. (2016). Beyond completion rate: Evaluating the passing ability of footballers. Journal of the Royal Statistical Society Series A: Statistics in Society.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R, R., Harell, A., &amp; S, P. (2022). Pass evaluation in women's Olympic ice hockey. Proceedings of the 5th International ACM Workshop on Multimedia Content Analysis in Sports.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 Radke, D., Radke, D., Brecht, T., &amp; Pawelczyk, A. (2021). Passing and pressure metrics in ice hockey. Artificial Intelligence for Sports Analytics (AISA) Workshop. </a:t>
            </a:r>
            <a:endParaRPr sz="1600"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GB" sz="1600"/>
              <a:t> Arbués-Sangüesa, A., Martín, A., Fernández, J., Ballester, C., &amp; Haro, G. (2020). Using player's body-orientation to model pass feasibility in soccer. Proceedings of the IEEE/CVF Conference on Computer Vision and Pattern Recognition (CVPR) Workshops. </a:t>
            </a:r>
            <a:endParaRPr sz="1600"/>
          </a:p>
        </p:txBody>
      </p:sp>
      <p:sp>
        <p:nvSpPr>
          <p:cNvPr id="303" name="Google Shape;303;p29"/>
          <p:cNvSpPr txBox="1"/>
          <p:nvPr>
            <p:ph idx="12" type="sldNum"/>
          </p:nvPr>
        </p:nvSpPr>
        <p:spPr>
          <a:xfrm>
            <a:off x="10991850" y="6416675"/>
            <a:ext cx="12003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4" name="Google Shape;304;p29"/>
          <p:cNvSpPr txBox="1"/>
          <p:nvPr>
            <p:ph idx="10" type="dt"/>
          </p:nvPr>
        </p:nvSpPr>
        <p:spPr>
          <a:xfrm>
            <a:off x="398463" y="6424613"/>
            <a:ext cx="1227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19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lang="en-GB"/>
              <a:t>06</a:t>
            </a: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.202</a:t>
            </a:r>
            <a:r>
              <a:rPr lang="en-GB"/>
              <a:t>6</a:t>
            </a:r>
            <a:endParaRPr b="0" i="0" sz="9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305" name="Google Shape;305;p29"/>
          <p:cNvSpPr txBox="1"/>
          <p:nvPr>
            <p:ph idx="11" type="ftr"/>
          </p:nvPr>
        </p:nvSpPr>
        <p:spPr>
          <a:xfrm>
            <a:off x="1625600" y="6416675"/>
            <a:ext cx="89853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Saarland University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0"/>
          <p:cNvSpPr txBox="1"/>
          <p:nvPr>
            <p:ph type="ctrTitle"/>
          </p:nvPr>
        </p:nvSpPr>
        <p:spPr>
          <a:xfrm>
            <a:off x="0" y="3957214"/>
            <a:ext cx="12192000" cy="576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Thank you!</a:t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/>
              <a:t>Q&amp;A</a:t>
            </a:r>
            <a:endParaRPr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-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-Design">
  <a:themeElements>
    <a:clrScheme name="Benutzerdefiniert 1">
      <a:dk1>
        <a:srgbClr val="000000"/>
      </a:dk1>
      <a:lt1>
        <a:srgbClr val="FFFFFF"/>
      </a:lt1>
      <a:dk2>
        <a:srgbClr val="004877"/>
      </a:dk2>
      <a:lt2>
        <a:srgbClr val="E6E6E6"/>
      </a:lt2>
      <a:accent1>
        <a:srgbClr val="C82254"/>
      </a:accent1>
      <a:accent2>
        <a:srgbClr val="D7DF23"/>
      </a:accent2>
      <a:accent3>
        <a:srgbClr val="01283F"/>
      </a:accent3>
      <a:accent4>
        <a:srgbClr val="BEBEBE"/>
      </a:accent4>
      <a:accent5>
        <a:srgbClr val="919191"/>
      </a:accent5>
      <a:accent6>
        <a:srgbClr val="BEBEBE"/>
      </a:accent6>
      <a:hlink>
        <a:srgbClr val="0000FF"/>
      </a:hlink>
      <a:folHlink>
        <a:srgbClr val="8DB3E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